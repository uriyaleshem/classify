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9" r:id="rId3"/>
    <p:sldId id="267" r:id="rId4"/>
    <p:sldId id="257" r:id="rId5"/>
    <p:sldId id="261" r:id="rId6"/>
    <p:sldId id="268" r:id="rId7"/>
    <p:sldId id="266" r:id="rId8"/>
    <p:sldId id="269" r:id="rId9"/>
    <p:sldId id="260" r:id="rId10"/>
    <p:sldId id="263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B8FF47-1AA1-4899-2784-84E94B117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B0DCFA2-1839-1F93-6E8D-AC0FB3D0C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C66175-B068-98AB-632A-C45A88CE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27573F-9E8B-AF13-A4A1-EF3626CC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151EB12-7787-93E7-8710-E79E20DB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251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2868B3-6DB4-E74B-ECE3-6A6C8049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BC407A-FD8D-FB0D-6CC4-2B4D88D0A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AFBF83B-2D78-FB9D-17AA-3287980C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B3EA23B-83F2-E657-3354-626CF9E9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DF9D1D7-EE16-1A77-4C04-32EB86C0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623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774340-8C49-80D9-59FF-11AFCD37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ECB1AD-11A1-23F2-60AE-A9D6A5B55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3F8059-D47F-CF6B-AD6A-3623D7CE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ACCC62-3004-F319-0132-E4B2CF80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FC5E90-50BF-2EA5-E8D4-4CEF2F39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842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E697DE-3644-045E-60F8-99D41E37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810F9F-6FA7-0D55-F210-3624E69AC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0678241-6646-C7D3-99FF-52EE20CD8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4C61EF8-52CA-2A60-9FFD-02B69E79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7542CD-7602-90AC-C39A-B600000B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C95B183-BCB8-231C-0CA6-709D8203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59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F299C0-338E-DA16-E55B-2A71E350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964E338-969C-618B-2960-22B0FB155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B0019A3-9133-E18F-0213-503F07CCE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0052354-D593-9674-BEB3-7A1378D83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5675F8A-CF11-E0ED-2CC9-EBEB6B93E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8610D6E-7FF5-6753-BAAA-A6814913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FA6B5D7-77C7-4E8C-936D-F39E0851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B29A0BD-B153-FC3C-2753-02296806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281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481CB4-03DA-18F0-F8B0-7C29D85F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874093C-2B9C-6603-E3AC-A6006233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44C5A24-9A69-899E-7DB8-191EB626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A019BB5-2746-67ED-301C-828A1F9F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45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ECB7897-0483-3676-C113-E5617F66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E48A478-AF94-6892-4A57-CB1C17A2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88C26FF-318B-C7B0-2F04-40B7B906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022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B7DA30-A134-88E0-1917-0DA03559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25206A-690E-9965-8EEE-A5EF09D59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E244F2E-F78C-3C8D-7968-BFFE8EF73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919F0E9-4B08-2E0F-4934-2C0EF4EE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DA34DBA-CDDC-8114-E645-1B11D36B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6CDBD5-560E-B26F-3361-699095B6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455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90474C-7992-449A-B789-E3B92166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6E5A6DD-9740-CD6E-6518-2EB5900E1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D3AD26E-0F38-C19D-18C0-E19533A4F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81B81CD-8D75-E630-B230-37535583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AAC8C93-AAFF-D561-B7E5-6322B296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BE007D4-150A-A582-9031-9D29451E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2670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92D327-99CF-30D1-FAAD-30A14CC1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0E58BBC-D680-AE50-6E0F-E3E5F262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6B896A3-A83D-65E1-AF36-46F38053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0C890F7-FBE6-44E6-4ADA-62CB02D9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6F5411-B218-4A85-753C-537EABF0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173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BF29E52-F1EF-F0FB-66EC-336342081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C42EB36-E915-BAB8-1608-6098D4096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0BFDD5-D9AE-4E7D-6419-D856B0D2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93E3-ADA8-4556-803F-E829EB94F7A4}" type="datetimeFigureOut">
              <a:rPr lang="he-IL" smtClean="0"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066D2C-55F8-A4A8-F620-9AB43FA4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FCBB22-C6BD-679E-8CBF-4BF7B4CC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703F-73FB-4BD2-8DE7-D1293A7308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D895D97-720F-E4F2-B462-514B7F797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65FC9F0-585C-7881-80CC-EAD9584B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5E1086F-E581-B773-0AF1-36132CA4C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B3A93E3-ADA8-4556-803F-E829EB94F7A4}" type="datetimeFigureOut">
              <a:rPr lang="he-IL" smtClean="0"/>
              <a:pPr/>
              <a:t>כ'/אדר/תשפ"ו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6C85A3E-C94F-2C8F-B830-107CEBF83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49B0A0-6388-3F9C-1E08-A105BEF79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C8F703F-73FB-4BD2-8DE7-D1293A7308F6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131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7030A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r" defTabSz="914400" rtl="1" eaLnBrk="1" latinLnBrk="0" hangingPunct="1">
        <a:lnSpc>
          <a:spcPct val="150000"/>
        </a:lnSpc>
        <a:spcBef>
          <a:spcPts val="1000"/>
        </a:spcBef>
        <a:buClr>
          <a:srgbClr val="7030A0"/>
        </a:buClr>
        <a:buSzPct val="84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r" defTabSz="914400" rtl="1" eaLnBrk="1" latinLnBrk="0" hangingPunct="1">
        <a:lnSpc>
          <a:spcPct val="150000"/>
        </a:lnSpc>
        <a:spcBef>
          <a:spcPts val="500"/>
        </a:spcBef>
        <a:buClr>
          <a:srgbClr val="7030A0"/>
        </a:buClr>
        <a:buSzPct val="84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r" defTabSz="914400" rtl="1" eaLnBrk="1" latinLnBrk="0" hangingPunct="1">
        <a:lnSpc>
          <a:spcPct val="150000"/>
        </a:lnSpc>
        <a:spcBef>
          <a:spcPts val="500"/>
        </a:spcBef>
        <a:buClr>
          <a:srgbClr val="7030A0"/>
        </a:buClr>
        <a:buSzPct val="84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r" defTabSz="914400" rtl="1" eaLnBrk="1" latinLnBrk="0" hangingPunct="1">
        <a:lnSpc>
          <a:spcPct val="150000"/>
        </a:lnSpc>
        <a:spcBef>
          <a:spcPts val="500"/>
        </a:spcBef>
        <a:buClr>
          <a:srgbClr val="7030A0"/>
        </a:buClr>
        <a:buSzPct val="84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r" defTabSz="914400" rtl="1" eaLnBrk="1" latinLnBrk="0" hangingPunct="1">
        <a:lnSpc>
          <a:spcPct val="150000"/>
        </a:lnSpc>
        <a:spcBef>
          <a:spcPts val="500"/>
        </a:spcBef>
        <a:buClr>
          <a:srgbClr val="7030A0"/>
        </a:buClr>
        <a:buSzPct val="84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720490-E353-1A7A-B73D-672929A0C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273" y="301268"/>
            <a:ext cx="11019453" cy="3785539"/>
          </a:xfrm>
        </p:spPr>
        <p:txBody>
          <a:bodyPr>
            <a:normAutofit/>
          </a:bodyPr>
          <a:lstStyle/>
          <a:p>
            <a:pPr rtl="1">
              <a:lnSpc>
                <a:spcPct val="107000"/>
              </a:lnSpc>
              <a:spcAft>
                <a:spcPts val="600"/>
              </a:spcAft>
            </a:pPr>
            <a:r>
              <a:rPr lang="he-IL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עבודת חקר מסכמת בנושא שסעים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6600" b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סוגיות במחלוקת בחברה הישראלית ואתגר החיים המשותפים</a:t>
            </a:r>
            <a:endParaRPr lang="he-IL" sz="25800" dirty="0">
              <a:solidFill>
                <a:srgbClr val="7030A0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EE4C572-8095-DFD5-0EF2-F45FDABCD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24938"/>
            <a:ext cx="9144000" cy="933061"/>
          </a:xfrm>
        </p:spPr>
        <p:txBody>
          <a:bodyPr/>
          <a:lstStyle/>
          <a:p>
            <a:r>
              <a:rPr lang="he-IL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חלוצי הערכה באזרחות תשפ"ו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0884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C283AD-521E-1C47-F7BD-4B2D2838E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5914"/>
            <a:ext cx="9144000" cy="1667490"/>
          </a:xfrm>
        </p:spPr>
        <p:txBody>
          <a:bodyPr>
            <a:normAutofit fontScale="90000"/>
          </a:bodyPr>
          <a:lstStyle/>
          <a:p>
            <a:r>
              <a:rPr lang="he-IL" sz="11500" dirty="0"/>
              <a:t>מה זה שסע?</a:t>
            </a:r>
          </a:p>
        </p:txBody>
      </p:sp>
      <p:pic>
        <p:nvPicPr>
          <p:cNvPr id="1026" name="Picture 2" descr="שסע - הכיתה של חלי ואסף">
            <a:extLst>
              <a:ext uri="{FF2B5EF4-FFF2-40B4-BE49-F238E27FC236}">
                <a16:creationId xmlns:a16="http://schemas.microsoft.com/office/drawing/2014/main" id="{056D8C8D-52C8-81E5-7AC8-63D9E810B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174" y="2361122"/>
            <a:ext cx="5193651" cy="435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57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72E518-300E-1797-52D3-76DCB627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dirty="0"/>
              <a:t>שסע </a:t>
            </a:r>
            <a:r>
              <a:rPr lang="he-IL" sz="4000" dirty="0"/>
              <a:t>(</a:t>
            </a:r>
            <a:r>
              <a:rPr lang="he-IL" sz="4000" dirty="0" err="1"/>
              <a:t>ויקימיליון</a:t>
            </a:r>
            <a:r>
              <a:rPr lang="he-IL" sz="4000" dirty="0"/>
              <a:t>)</a:t>
            </a:r>
            <a:endParaRPr lang="he-IL" sz="5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FF83236-22D9-B33F-E120-C4DDCCB1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3200" dirty="0"/>
              <a:t>1. חריץ, חתך עמוק המחלק דבר לשניים.</a:t>
            </a:r>
          </a:p>
          <a:p>
            <a:pPr lvl="1"/>
            <a:r>
              <a:rPr lang="he-IL" sz="2800" dirty="0"/>
              <a:t>"לְכָל הַבְּהֵמָה אֲשֶׁר הִוא מַפְרֶסֶת פַּרְסָה וְשֶׁסַע אֵינֶנָּה שֹׁסַעַת" (ויקרא יא </a:t>
            </a:r>
            <a:r>
              <a:rPr lang="he-IL" sz="2800" dirty="0" err="1"/>
              <a:t>כו</a:t>
            </a:r>
            <a:r>
              <a:rPr lang="he-IL" sz="2800" dirty="0"/>
              <a:t>)</a:t>
            </a:r>
          </a:p>
          <a:p>
            <a:pPr lvl="1"/>
            <a:r>
              <a:rPr lang="he-IL" sz="2800" dirty="0"/>
              <a:t>מעצב האופנה ייצר חצאית בעלת שסע.</a:t>
            </a:r>
          </a:p>
          <a:p>
            <a:pPr marL="0" indent="0">
              <a:buNone/>
            </a:pPr>
            <a:r>
              <a:rPr lang="he-IL" sz="3200" dirty="0"/>
              <a:t>2. פער בין עמדות שונות שגורם לסכסוכים.</a:t>
            </a:r>
          </a:p>
          <a:p>
            <a:pPr lvl="1"/>
            <a:r>
              <a:rPr lang="he-IL" sz="2800" dirty="0"/>
              <a:t>בישראל יש שסע דתי, הוא שסע בין דתיים לבין חילוניים.</a:t>
            </a:r>
          </a:p>
        </p:txBody>
      </p:sp>
    </p:spTree>
    <p:extLst>
      <p:ext uri="{BB962C8B-B14F-4D97-AF65-F5344CB8AC3E}">
        <p14:creationId xmlns:p14="http://schemas.microsoft.com/office/powerpoint/2010/main" val="235570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8E016C-1AAE-12B9-A07F-4FAC1BD5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126" y="299811"/>
            <a:ext cx="10515600" cy="1325563"/>
          </a:xfrm>
        </p:spPr>
        <p:txBody>
          <a:bodyPr/>
          <a:lstStyle/>
          <a:p>
            <a:r>
              <a:rPr lang="he-IL" dirty="0" err="1"/>
              <a:t>החמישיה</a:t>
            </a:r>
            <a:r>
              <a:rPr lang="he-IL" dirty="0"/>
              <a:t> הקאמרית - אחדות ודו-קיום</a:t>
            </a:r>
          </a:p>
        </p:txBody>
      </p:sp>
      <p:pic>
        <p:nvPicPr>
          <p:cNvPr id="4" name="y2mate.com - החמישיה הקאמרית  אחדות ודוקיום_360p">
            <a:hlinkClick r:id="" action="ppaction://media"/>
            <a:extLst>
              <a:ext uri="{FF2B5EF4-FFF2-40B4-BE49-F238E27FC236}">
                <a16:creationId xmlns:a16="http://schemas.microsoft.com/office/drawing/2014/main" id="{1767DCE4-2E7B-3B89-138B-794EE33F51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15181" y="1513404"/>
            <a:ext cx="6161638" cy="45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8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2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D67495-F129-01C8-8B92-ADA9680A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10" y="102021"/>
            <a:ext cx="10515600" cy="1325563"/>
          </a:xfrm>
        </p:spPr>
        <p:txBody>
          <a:bodyPr/>
          <a:lstStyle/>
          <a:p>
            <a:r>
              <a:rPr lang="he-IL" dirty="0"/>
              <a:t>המטרה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2AFF3C9-6313-C8B1-97C4-627C66E67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530220"/>
            <a:ext cx="11132976" cy="5327780"/>
          </a:xfrm>
        </p:spPr>
        <p:txBody>
          <a:bodyPr>
            <a:normAutofit/>
          </a:bodyPr>
          <a:lstStyle/>
          <a:p>
            <a:r>
              <a:rPr lang="he-IL" sz="3200" dirty="0"/>
              <a:t>כל קבוצת תלמידים תבחר נקודות מחלוקת המפלגות את החברה הישראלית ותבחן לעומק את המחלוקות ואת המגזרים/קבוצות/קטגוריות המעורבות במחלוקות. </a:t>
            </a:r>
          </a:p>
          <a:p>
            <a:r>
              <a:rPr lang="he-IL" sz="3200" dirty="0"/>
              <a:t>המחלוקות יכולות להיות בנושאי זהותה של מדינת ישראל, בנושאים כלכליים, בסוגיות פוליטיות, בסוגיות של זהות מינית, עניינים לאומיים וכדומה ובכל נושא משמעותי אחר.</a:t>
            </a:r>
          </a:p>
          <a:p>
            <a:pPr lvl="1"/>
            <a:endParaRPr lang="he-IL" sz="3200" b="1" dirty="0"/>
          </a:p>
        </p:txBody>
      </p:sp>
    </p:spTree>
    <p:extLst>
      <p:ext uri="{BB962C8B-B14F-4D97-AF65-F5344CB8AC3E}">
        <p14:creationId xmlns:p14="http://schemas.microsoft.com/office/powerpoint/2010/main" val="32160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803C-A9ED-4D5B-AAAC-A40127D3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973F7-B994-4B7D-AF82-A3D88662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10" y="102021"/>
            <a:ext cx="10515600" cy="1325563"/>
          </a:xfrm>
        </p:spPr>
        <p:txBody>
          <a:bodyPr/>
          <a:lstStyle/>
          <a:p>
            <a:r>
              <a:rPr lang="he-IL" dirty="0"/>
              <a:t>דוגמאות לשסעים ומחלוקות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1C6753-D307-DFD7-885D-362DB4B0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1" y="1520890"/>
            <a:ext cx="11283820" cy="5159828"/>
          </a:xfrm>
        </p:spPr>
        <p:txBody>
          <a:bodyPr>
            <a:normAutofit fontScale="92500" lnSpcReduction="20000"/>
          </a:bodyPr>
          <a:lstStyle/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דתי - דתיים מול חילוניים, דתיים מול רפורמים/קונסרבטיבים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פוליטי – ימין פוליטי מול שמאל פוליטי (מה זה ימין/שמאל?), זהות המדינה היהודית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לאומי – ערבים (אזרחים בלבד) מול יהודים, ארץ ישראל השלמה מול פתרון מדיני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מגדרי, מיני - נשים מול גברים, להט"בים מול שמרנים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עדתי - מזרחים מול אשכנזים, עולי אתיופיה/עולי ברה"מ מול ותיקים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spcAft>
                <a:spcPts val="800"/>
              </a:spcAft>
              <a:buSzPct val="100000"/>
              <a:tabLst>
                <a:tab pos="457200" algn="l"/>
              </a:tabLst>
            </a:pPr>
            <a:r>
              <a:rPr lang="he-IL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שסע כלכלי-חברתי - פריפריה מול מרכז, צדק חלוקתי והוגנות המדינה (סוציאל דמוקרטיה/ליברליזם)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buSzPct val="100000"/>
            </a:pP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2241538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שסעים בחברה הישראלית">
            <a:hlinkClick r:id="" action="ppaction://media"/>
            <a:extLst>
              <a:ext uri="{FF2B5EF4-FFF2-40B4-BE49-F238E27FC236}">
                <a16:creationId xmlns:a16="http://schemas.microsoft.com/office/drawing/2014/main" id="{20099CDB-0FA9-E4F9-0D52-4D4B778081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36371" y="1346524"/>
            <a:ext cx="7119257" cy="4004582"/>
          </a:xfrm>
          <a:prstGeom prst="rect">
            <a:avLst/>
          </a:prstGeom>
        </p:spPr>
      </p:pic>
      <p:sp>
        <p:nvSpPr>
          <p:cNvPr id="3" name="כותרת 1">
            <a:extLst>
              <a:ext uri="{FF2B5EF4-FFF2-40B4-BE49-F238E27FC236}">
                <a16:creationId xmlns:a16="http://schemas.microsoft.com/office/drawing/2014/main" id="{CE80058E-4E2E-D25C-3B6B-E31EFBEFE70A}"/>
              </a:ext>
            </a:extLst>
          </p:cNvPr>
          <p:cNvSpPr txBox="1">
            <a:spLocks/>
          </p:cNvSpPr>
          <p:nvPr/>
        </p:nvSpPr>
        <p:spPr>
          <a:xfrm>
            <a:off x="1184988" y="344617"/>
            <a:ext cx="10515600" cy="132556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7030A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he-IL" dirty="0"/>
              <a:t>ואפשר גם אחרים</a:t>
            </a:r>
          </a:p>
        </p:txBody>
      </p:sp>
    </p:spTree>
    <p:extLst>
      <p:ext uri="{BB962C8B-B14F-4D97-AF65-F5344CB8AC3E}">
        <p14:creationId xmlns:p14="http://schemas.microsoft.com/office/powerpoint/2010/main" val="300426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7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9C0761-9096-EC7A-DA96-687529D9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כוללת העבודה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F995436-AA59-40BD-8B5C-9AF0E5DB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e-IL" sz="3200" dirty="0"/>
              <a:t>חלק תיאורטי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3200" dirty="0"/>
              <a:t>נייר עמדה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3200" dirty="0"/>
              <a:t>רפלקציה אישית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3200" dirty="0"/>
              <a:t>תוצר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3200" dirty="0"/>
              <a:t>הצגת העבודה</a:t>
            </a:r>
          </a:p>
          <a:p>
            <a:pPr marL="514350" indent="-514350">
              <a:buFont typeface="+mj-lt"/>
              <a:buAutoNum type="arabicPeriod"/>
            </a:pPr>
            <a:endParaRPr lang="he-IL" sz="3200" dirty="0"/>
          </a:p>
        </p:txBody>
      </p:sp>
      <p:pic>
        <p:nvPicPr>
          <p:cNvPr id="1026" name="Picture 2" descr="Multicolored Numbers from 1,2,3,4,5. Arabic Number Symbols with Rounded  Corners. Cartoon Style Stock Vector - Illustration of pair, number:  299810938">
            <a:extLst>
              <a:ext uri="{FF2B5EF4-FFF2-40B4-BE49-F238E27FC236}">
                <a16:creationId xmlns:a16="http://schemas.microsoft.com/office/drawing/2014/main" id="{4C9FFDE7-9950-84A5-39FD-51E832A66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83" y="2901819"/>
            <a:ext cx="4767943" cy="178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38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C39BF0-38C9-58D0-CED1-147F416B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הנחיות למטלה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D28B10C-EA40-09E0-3FB2-04AE5BB51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82"/>
            <a:ext cx="10515600" cy="5009860"/>
          </a:xfrm>
        </p:spPr>
        <p:txBody>
          <a:bodyPr>
            <a:normAutofit fontScale="92500" lnSpcReduction="10000"/>
          </a:bodyPr>
          <a:lstStyle/>
          <a:p>
            <a:r>
              <a:rPr lang="he-IL" dirty="0"/>
              <a:t>קבוצות של 4-5 תלמידים</a:t>
            </a:r>
          </a:p>
          <a:p>
            <a:r>
              <a:rPr lang="he-IL" dirty="0"/>
              <a:t>הגשה העבודה הכתובה בוורד</a:t>
            </a:r>
          </a:p>
          <a:p>
            <a:r>
              <a:rPr lang="he-IL" dirty="0"/>
              <a:t>לו"ז (קשיח. חלק מהציון) לשלבי ההגשה:</a:t>
            </a:r>
          </a:p>
          <a:p>
            <a:pPr lvl="1"/>
            <a:r>
              <a:rPr lang="he-IL" sz="2600" dirty="0"/>
              <a:t>שלב 1 – 1.3.26 – חלוקה לקבוצות ובחירת שסעים</a:t>
            </a:r>
          </a:p>
          <a:p>
            <a:pPr lvl="1"/>
            <a:r>
              <a:rPr lang="he-IL" sz="2600" dirty="0"/>
              <a:t>שלב 2 – 5.3.26 - הגשת ואישור ביבליוגרפיה</a:t>
            </a:r>
          </a:p>
          <a:p>
            <a:pPr lvl="1"/>
            <a:r>
              <a:rPr lang="he-IL" sz="2600" dirty="0"/>
              <a:t>שלב 3 – 12.3.26 – הגשת החלק התיאורטי</a:t>
            </a:r>
          </a:p>
          <a:p>
            <a:pPr lvl="1"/>
            <a:r>
              <a:rPr lang="he-IL" sz="2600" dirty="0"/>
              <a:t>שלב 4 – 22.3.26 - הגשת העבודה כולה</a:t>
            </a:r>
          </a:p>
          <a:p>
            <a:pPr lvl="1"/>
            <a:r>
              <a:rPr lang="he-IL" sz="2600" dirty="0"/>
              <a:t>שלב 5 – 12-13.4.26 – הצגת המצגת בכיתה והגשת התוצר</a:t>
            </a:r>
          </a:p>
          <a:p>
            <a:endParaRPr lang="he-IL" dirty="0"/>
          </a:p>
        </p:txBody>
      </p:sp>
      <p:pic>
        <p:nvPicPr>
          <p:cNvPr id="1026" name="Picture 2" descr="כיצד להעלות מטלה למודל כמרצה">
            <a:extLst>
              <a:ext uri="{FF2B5EF4-FFF2-40B4-BE49-F238E27FC236}">
                <a16:creationId xmlns:a16="http://schemas.microsoft.com/office/drawing/2014/main" id="{A4BAB40E-C885-4CCA-88D3-55E8A6E2F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3F5F6"/>
              </a:clrFrom>
              <a:clrTo>
                <a:srgbClr val="F3F5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32" y="3266905"/>
            <a:ext cx="3781597" cy="37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83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129847-0C5E-5FDD-0EE2-3D6CCC0A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העבודה הכתובה תכלול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931464-4440-148D-A1E1-F0367B96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e-IL" b="1" dirty="0"/>
              <a:t>1. רשימת מקורות – ביבליוגרפיה – 5.3 </a:t>
            </a:r>
          </a:p>
          <a:p>
            <a:r>
              <a:rPr lang="he-IL" dirty="0"/>
              <a:t>כוללת לפחות 4 פריטים מכמה סוגים בהם נעזרתם בתהליך הלמידה וחיפוש החומר</a:t>
            </a:r>
          </a:p>
          <a:p>
            <a:r>
              <a:rPr lang="he-IL" dirty="0"/>
              <a:t>יכול להיות: כתבות אקטואליות, מאמרים, מחקרים, ראיונות, ספרים, אתרי זכויות האדם, בג"ץ, סרטים, ועוד...</a:t>
            </a:r>
          </a:p>
          <a:p>
            <a:r>
              <a:rPr lang="he-IL" dirty="0"/>
              <a:t>כל מקור ביבליוגרפי צריך לעבור אישור </a:t>
            </a:r>
          </a:p>
          <a:p>
            <a:r>
              <a:rPr lang="he-IL" dirty="0"/>
              <a:t>אחד מהמקורות חייב להיות מקור אקדמאי</a:t>
            </a:r>
          </a:p>
        </p:txBody>
      </p:sp>
    </p:spTree>
    <p:extLst>
      <p:ext uri="{BB962C8B-B14F-4D97-AF65-F5344CB8AC3E}">
        <p14:creationId xmlns:p14="http://schemas.microsoft.com/office/powerpoint/2010/main" val="315619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129847-0C5E-5FDD-0EE2-3D6CCC0A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העבודה הכתובה תכלול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931464-4440-148D-A1E1-F0367B96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e-IL" b="1" dirty="0"/>
              <a:t>2. הצגת החלק התיאורטי בנושא הנבחר – 12.3</a:t>
            </a:r>
          </a:p>
          <a:p>
            <a:pPr marL="342900" lvl="0" indent="-342900" algn="r" rtl="1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תיאור, רקע היסטורי והצגת הקבוצות השונות המעורבות במחלוקת כולל נתונים כמותיים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גורמים למחלוקת ודרכי ביטוי של המחלוקת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דרכי התמודדות (אתגר החיים המשותפים לאור השסע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האפשרויות להסכמות, פשרות וצמצום המחלוקות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במהלך הכתיבה יש צורך לעשות שימוש במושגים שנלמדו במהלך שיעורי אזרחות. </a:t>
            </a: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אורך החלק התיאורטי - עד 4 עמודים.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708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129847-0C5E-5FDD-0EE2-3D6CCC0A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העבודה הכתובה תכלול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931464-4440-148D-A1E1-F0367B96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e-IL" b="1" dirty="0"/>
              <a:t>3. כתיבת נייר עמדה המסכם את עמדת הקבוצה בנושא הנבחר</a:t>
            </a:r>
          </a:p>
          <a:p>
            <a:r>
              <a:rPr lang="he-IL" dirty="0"/>
              <a:t>הצגת עמדה של הקבוצה והצגת עמדה הפוכה לה. </a:t>
            </a:r>
          </a:p>
          <a:p>
            <a:r>
              <a:rPr lang="he-IL" dirty="0"/>
              <a:t>הצגת שני נימוקים המחזקים את עמדת הקבוצה. הנימוקים חייבים להתבסס על לימודי האזרחות.</a:t>
            </a:r>
          </a:p>
          <a:p>
            <a:r>
              <a:rPr lang="he-IL" dirty="0"/>
              <a:t>הצגת לפחות נימוק אחד המחזק את העמדה ההפוכה. הנימוק חייב להתבסס על לימודי האזרחות.</a:t>
            </a:r>
          </a:p>
          <a:p>
            <a:r>
              <a:rPr lang="he-IL" dirty="0"/>
              <a:t>מסקנת הקבוצה לאור הנימוקים שהוצגו.</a:t>
            </a:r>
          </a:p>
        </p:txBody>
      </p:sp>
    </p:spTree>
    <p:extLst>
      <p:ext uri="{BB962C8B-B14F-4D97-AF65-F5344CB8AC3E}">
        <p14:creationId xmlns:p14="http://schemas.microsoft.com/office/powerpoint/2010/main" val="401288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129847-0C5E-5FDD-0EE2-3D6CCC0A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העבודה הכתובה תכלול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931464-4440-148D-A1E1-F0367B960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e-IL" b="1" dirty="0"/>
              <a:t>4. רפלקציה אישית של כל אחד מחברי הקבוצה</a:t>
            </a:r>
          </a:p>
          <a:p>
            <a:pPr marL="0" indent="0">
              <a:buNone/>
            </a:pPr>
            <a:r>
              <a:rPr lang="he-IL" dirty="0"/>
              <a:t>הרפלקציה תכלול: </a:t>
            </a:r>
          </a:p>
          <a:p>
            <a:pPr marL="0" indent="0">
              <a:buNone/>
            </a:pPr>
            <a:r>
              <a:rPr lang="he-IL" dirty="0"/>
              <a:t>	א. באיזה אופן בחרתם את הנושא והתפקידים בקבוצה?</a:t>
            </a:r>
          </a:p>
          <a:p>
            <a:pPr marL="0" indent="0">
              <a:buNone/>
            </a:pPr>
            <a:r>
              <a:rPr lang="he-IL" dirty="0"/>
              <a:t>	ב. כיצד את.ה מעריך את התהליכים שהיו בעבודה?</a:t>
            </a:r>
          </a:p>
          <a:p>
            <a:pPr marL="0" indent="0">
              <a:buNone/>
            </a:pPr>
            <a:r>
              <a:rPr lang="he-IL" dirty="0"/>
              <a:t>	ג. משהו חדש שלמדתי בתהליך העבודה - על הנושא ו/או על עצמי.</a:t>
            </a:r>
          </a:p>
          <a:p>
            <a:pPr marL="0" indent="0">
              <a:buNone/>
            </a:pPr>
            <a:r>
              <a:rPr lang="he-IL" dirty="0"/>
              <a:t>	ד. מה תרמתי לקבוצה בתהליך הלמידה.</a:t>
            </a:r>
          </a:p>
          <a:p>
            <a:pPr marL="0" indent="0">
              <a:buNone/>
            </a:pPr>
            <a:r>
              <a:rPr lang="he-IL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עד חצי עמוד לתלמיד.</a:t>
            </a:r>
            <a:endParaRPr lang="he-IL" sz="4200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302323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774AD8398DF8E242822832F7794EDD9B" ma:contentTypeVersion="12" ma:contentTypeDescription="צור מסמך חדש." ma:contentTypeScope="" ma:versionID="1e740ee0b7327b4ccba7b619c7855cf6">
  <xsd:schema xmlns:xsd="http://www.w3.org/2001/XMLSchema" xmlns:xs="http://www.w3.org/2001/XMLSchema" xmlns:p="http://schemas.microsoft.com/office/2006/metadata/properties" xmlns:ns2="40ff0a02-6519-431a-b195-b424e34915e2" xmlns:ns3="5d918262-eba8-40d8-b0fa-d5a757697b87" targetNamespace="http://schemas.microsoft.com/office/2006/metadata/properties" ma:root="true" ma:fieldsID="e97416db666bf83f2ba390661260e35f" ns2:_="" ns3:_="">
    <xsd:import namespace="40ff0a02-6519-431a-b195-b424e34915e2"/>
    <xsd:import namespace="5d918262-eba8-40d8-b0fa-d5a757697b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f0a02-6519-431a-b195-b424e34915e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תגיות תמונה" ma:readOnly="false" ma:fieldId="{5cf76f15-5ced-4ddc-b409-7134ff3c332f}" ma:taxonomyMulti="true" ma:sspId="77da649f-fc06-4d87-8aca-bab2a48d5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18262-eba8-40d8-b0fa-d5a757697b8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a2b7970-5d6b-459e-ad27-aa8819d6ee28}" ma:internalName="TaxCatchAll" ma:showField="CatchAllData" ma:web="5d918262-eba8-40d8-b0fa-d5a757697b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d918262-eba8-40d8-b0fa-d5a757697b87" xsi:nil="true"/>
    <lcf76f155ced4ddcb4097134ff3c332f xmlns="40ff0a02-6519-431a-b195-b424e34915e2">
      <Terms xmlns="http://schemas.microsoft.com/office/infopath/2007/PartnerControls"/>
    </lcf76f155ced4ddcb4097134ff3c332f>
    <ReferenceId xmlns="40ff0a02-6519-431a-b195-b424e34915e2" xsi:nil="true"/>
  </documentManagement>
</p:properties>
</file>

<file path=customXml/itemProps1.xml><?xml version="1.0" encoding="utf-8"?>
<ds:datastoreItem xmlns:ds="http://schemas.openxmlformats.org/officeDocument/2006/customXml" ds:itemID="{348AFAA1-6C58-4FB4-A6A3-5960B63415AD}"/>
</file>

<file path=customXml/itemProps2.xml><?xml version="1.0" encoding="utf-8"?>
<ds:datastoreItem xmlns:ds="http://schemas.openxmlformats.org/officeDocument/2006/customXml" ds:itemID="{561763A4-DB6C-43F1-AA93-EFB3896675FB}"/>
</file>

<file path=customXml/itemProps3.xml><?xml version="1.0" encoding="utf-8"?>
<ds:datastoreItem xmlns:ds="http://schemas.openxmlformats.org/officeDocument/2006/customXml" ds:itemID="{57585CE3-A75C-45E3-A1C9-FC985FE3F1EF}"/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563</Words>
  <Application>Microsoft Office PowerPoint</Application>
  <PresentationFormat>מסך רחב</PresentationFormat>
  <Paragraphs>63</Paragraphs>
  <Slides>13</Slides>
  <Notes>0</Notes>
  <HiddenSlides>0</HiddenSlides>
  <MMClips>2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ערכת נושא Office</vt:lpstr>
      <vt:lpstr>עבודת חקר מסכמת בנושא שסעים סוגיות במחלוקת בחברה הישראלית ואתגר החיים המשותפים</vt:lpstr>
      <vt:lpstr>מה זה שסע?</vt:lpstr>
      <vt:lpstr>שסע (ויקימיליון)</vt:lpstr>
      <vt:lpstr>החמישיה הקאמרית - אחדות ודו-קיום</vt:lpstr>
      <vt:lpstr>המטרה</vt:lpstr>
      <vt:lpstr>דוגמאות לשסעים ומחלוקות</vt:lpstr>
      <vt:lpstr>מצגת של PowerPoint‏</vt:lpstr>
      <vt:lpstr>מה כוללת העבודה</vt:lpstr>
      <vt:lpstr>הנחיות למטלה</vt:lpstr>
      <vt:lpstr>העבודה הכתובה תכלול</vt:lpstr>
      <vt:lpstr>העבודה הכתובה תכלול</vt:lpstr>
      <vt:lpstr>העבודה הכתובה תכלול</vt:lpstr>
      <vt:lpstr>העבודה הכתובה תכלול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עבודת חקר מסכמת בנושא: סוגיות במחלוקת בחברה הישראלית ואתגר החיים המשותפים</dc:title>
  <dc:creator>‫יובל צבי‬‎</dc:creator>
  <cp:lastModifiedBy>אריה גרשוני</cp:lastModifiedBy>
  <cp:revision>9</cp:revision>
  <dcterms:created xsi:type="dcterms:W3CDTF">2023-02-08T08:35:58Z</dcterms:created>
  <dcterms:modified xsi:type="dcterms:W3CDTF">2026-03-09T10:17:09Z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0x010100774AD8398DF8E242822832F7794EDD9B</vt:lpwstr>
  </property>
</Properties>
</file>